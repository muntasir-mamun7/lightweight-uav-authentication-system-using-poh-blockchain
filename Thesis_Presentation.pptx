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88952" cy="73152"/>
          </a:xfrm>
          <a:prstGeom prst="rect">
            <a:avLst/>
          </a:prstGeom>
          <a:solidFill>
            <a:srgbClr val="F4A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62272"/>
            <a:ext cx="12188952" cy="3657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raphical_abs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914400"/>
            <a:ext cx="3017520" cy="17149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0F0"/>
                </a:solidFill>
                <a:latin typeface="Calibri"/>
              </a:rPr>
              <a:t>Nanjing University of Posts and Telecommunications (NJUPT)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8229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Design and Implementation of UAV
Authentication System based on
Proof-of-History Blockchain Technology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46120"/>
            <a:ext cx="3657600" cy="45720"/>
          </a:xfrm>
          <a:prstGeom prst="rect">
            <a:avLst/>
          </a:prstGeom>
          <a:solidFill>
            <a:srgbClr val="F4A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4290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600" b="0">
                <a:solidFill>
                  <a:srgbClr val="CCDDEE"/>
                </a:solidFill>
                <a:latin typeface="Calibri"/>
              </a:rPr>
              <a:t>Student:   MUNTASIR AL MAMUN</a:t>
            </a:r>
          </a:p>
          <a:p>
            <a:pPr algn="l">
              <a:lnSpc>
                <a:spcPts val="2200"/>
              </a:lnSpc>
            </a:pPr>
            <a:r>
              <a:rPr sz="1600" b="0">
                <a:solidFill>
                  <a:srgbClr val="CCDDEE"/>
                </a:solidFill>
                <a:latin typeface="Calibri"/>
              </a:rPr>
              <a:t>Student No.:   F22040119</a:t>
            </a:r>
          </a:p>
          <a:p>
            <a:pPr algn="l">
              <a:lnSpc>
                <a:spcPts val="2200"/>
              </a:lnSpc>
            </a:pPr>
            <a:r>
              <a:rPr sz="1600" b="0">
                <a:solidFill>
                  <a:srgbClr val="CCDDEE"/>
                </a:solidFill>
                <a:latin typeface="Calibri"/>
              </a:rPr>
              <a:t>Major:   Computer Science and Technology</a:t>
            </a:r>
          </a:p>
          <a:p>
            <a:pPr algn="l">
              <a:lnSpc>
                <a:spcPts val="2200"/>
              </a:lnSpc>
            </a:pPr>
            <a:r>
              <a:rPr sz="1600" b="0">
                <a:solidFill>
                  <a:srgbClr val="CCDDEE"/>
                </a:solidFill>
                <a:latin typeface="Calibri"/>
              </a:rPr>
              <a:t>Institution:   NJUPT — School of Computer Science</a:t>
            </a:r>
          </a:p>
          <a:p>
            <a:pPr algn="l">
              <a:lnSpc>
                <a:spcPts val="2200"/>
              </a:lnSpc>
            </a:pPr>
            <a:r>
              <a:rPr sz="1600" b="0">
                <a:solidFill>
                  <a:srgbClr val="CCDDEE"/>
                </a:solidFill>
                <a:latin typeface="Calibri"/>
              </a:rPr>
              <a:t>Year:  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5379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EE"/>
                </a:solidFill>
                <a:latin typeface="Calibri"/>
              </a:rPr>
              <a:t>UAV Authentication using PoH Blockchain | MUNTASIR AL MAMUN | NJUPT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379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34440"/>
            <a:ext cx="12188952" cy="53035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F4A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Presentation 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EE"/>
                </a:solidFill>
                <a:latin typeface="Calibri"/>
              </a:rPr>
              <a:t>UAV Authentication using PoH Blockchain | MUNTASIR AL MAMUN | NJUPT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5303520" cy="7498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457200" cy="749808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4A41B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58191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Introduction &amp; Motivation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1417320"/>
            <a:ext cx="5303520" cy="7498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92240" y="1417320"/>
            <a:ext cx="457200" cy="749808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4A41B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158191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Research Objectives &amp; Contributions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331720"/>
            <a:ext cx="5303520" cy="7498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331720"/>
            <a:ext cx="457200" cy="749808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468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4A41B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249631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Related Work &amp; Research Gap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2331720"/>
            <a:ext cx="5303520" cy="7498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92240" y="2331720"/>
            <a:ext cx="457200" cy="749808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468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4A41B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249631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246120"/>
            <a:ext cx="5303520" cy="7498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246120"/>
            <a:ext cx="457200" cy="749808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383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4A41B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341071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PoH Engine Design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3246120"/>
            <a:ext cx="5303520" cy="7498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92240" y="3246120"/>
            <a:ext cx="457200" cy="749808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3383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4A41B"/>
                </a:solidFill>
                <a:latin typeface="Calibr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341071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Authentication Protocol (ECC)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160520"/>
            <a:ext cx="5303520" cy="7498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4160520"/>
            <a:ext cx="457200" cy="749808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297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4A41B"/>
                </a:solidFill>
                <a:latin typeface="Calibri"/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432511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Implementation Details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4160520"/>
            <a:ext cx="5303520" cy="7498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92240" y="4160520"/>
            <a:ext cx="457200" cy="749808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4297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4A41B"/>
                </a:solidFill>
                <a:latin typeface="Calibri"/>
              </a:rP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432511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Evaluation – Performance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074920"/>
            <a:ext cx="5303520" cy="7498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5074920"/>
            <a:ext cx="457200" cy="749808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212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4A41B"/>
                </a:solidFill>
                <a:latin typeface="Calibri"/>
              </a:rPr>
              <a:t>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523951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Evaluation – Security Tests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92240" y="5074920"/>
            <a:ext cx="5303520" cy="7498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92240" y="5074920"/>
            <a:ext cx="457200" cy="749808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92240" y="5212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4A41B"/>
                </a:solidFill>
                <a:latin typeface="Calibri"/>
              </a:rPr>
              <a:t>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40880" y="523951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Conclusion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34440"/>
            <a:ext cx="12188952" cy="53035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F4A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Introduction &amp; 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0F0"/>
                </a:solidFill>
                <a:latin typeface="Calibri"/>
              </a:rPr>
              <a:t>Why do UAVs need a new security paradigm?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379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EE"/>
                </a:solidFill>
                <a:latin typeface="Calibri"/>
              </a:rPr>
              <a:t>UAV Authentication using PoH Blockchain | MUNTASIR AL MAMUN | NJUPT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700" b="1">
                <a:solidFill>
                  <a:srgbClr val="2C3E50"/>
                </a:solidFill>
                <a:latin typeface="Calibri"/>
              </a:rPr>
              <a:t>UAVs are transforming logistics, agriculture, surveillance &amp; emergency response</a:t>
            </a:r>
          </a:p>
          <a:p>
            <a:pPr algn="l">
              <a:lnSpc>
                <a:spcPts val="2000"/>
              </a:lnSpc>
            </a:pPr>
            <a:r>
              <a:rPr sz="800" b="0">
                <a:solidFill>
                  <a:srgbClr val="2C3E50"/>
                </a:solidFill>
                <a:latin typeface="Calibri"/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700" b="1">
                <a:solidFill>
                  <a:srgbClr val="2C3E50"/>
                </a:solidFill>
                <a:latin typeface="Calibri"/>
              </a:rPr>
              <a:t>Critical Security Threats:</a:t>
            </a:r>
          </a:p>
          <a:p>
            <a:pPr algn="l">
              <a:lnSpc>
                <a:spcPts val="2000"/>
              </a:lnSpc>
            </a:pPr>
            <a:r>
              <a:rPr sz="1500" b="0">
                <a:solidFill>
                  <a:srgbClr val="2C3E50"/>
                </a:solidFill>
                <a:latin typeface="Calibri"/>
              </a:rPr>
              <a:t>  •  Spoofing &amp; command hijacking over wireless links</a:t>
            </a:r>
          </a:p>
          <a:p>
            <a:pPr algn="l">
              <a:lnSpc>
                <a:spcPts val="2000"/>
              </a:lnSpc>
            </a:pPr>
            <a:r>
              <a:rPr sz="1500" b="0">
                <a:solidFill>
                  <a:srgbClr val="2C3E50"/>
                </a:solidFill>
                <a:latin typeface="Calibri"/>
              </a:rPr>
              <a:t>  •  Unauthorized telemetry manipulation &amp; replay attacks</a:t>
            </a:r>
          </a:p>
          <a:p>
            <a:pPr algn="l">
              <a:lnSpc>
                <a:spcPts val="2000"/>
              </a:lnSpc>
            </a:pPr>
            <a:r>
              <a:rPr sz="1500" b="0">
                <a:solidFill>
                  <a:srgbClr val="2C3E50"/>
                </a:solidFill>
                <a:latin typeface="Calibri"/>
              </a:rPr>
              <a:t>  •  Centralized architectures = single point of failure</a:t>
            </a:r>
          </a:p>
          <a:p>
            <a:pPr algn="l">
              <a:lnSpc>
                <a:spcPts val="2000"/>
              </a:lnSpc>
            </a:pPr>
            <a:r>
              <a:rPr sz="1500" b="0">
                <a:solidFill>
                  <a:srgbClr val="2C3E50"/>
                </a:solidFill>
                <a:latin typeface="Calibri"/>
              </a:rPr>
              <a:t>  •  Forged timestamps → undetectable event reordering</a:t>
            </a:r>
          </a:p>
          <a:p>
            <a:pPr algn="l">
              <a:lnSpc>
                <a:spcPts val="2000"/>
              </a:lnSpc>
            </a:pPr>
            <a:r>
              <a:rPr sz="800" b="0">
                <a:solidFill>
                  <a:srgbClr val="2C3E50"/>
                </a:solidFill>
                <a:latin typeface="Calibri"/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700" b="1">
                <a:solidFill>
                  <a:srgbClr val="2C3E50"/>
                </a:solidFill>
                <a:latin typeface="Calibri"/>
              </a:rPr>
              <a:t>Why existing solutions fall short:</a:t>
            </a:r>
          </a:p>
          <a:p>
            <a:pPr algn="l">
              <a:lnSpc>
                <a:spcPts val="2000"/>
              </a:lnSpc>
            </a:pPr>
            <a:r>
              <a:rPr sz="1500" b="0">
                <a:solidFill>
                  <a:srgbClr val="2C3E50"/>
                </a:solidFill>
                <a:latin typeface="Calibri"/>
              </a:rPr>
              <a:t>  •  Traditional PKI: no tamper-evident logging</a:t>
            </a:r>
          </a:p>
          <a:p>
            <a:pPr algn="l">
              <a:lnSpc>
                <a:spcPts val="2000"/>
              </a:lnSpc>
            </a:pPr>
            <a:r>
              <a:rPr sz="1500" b="0">
                <a:solidFill>
                  <a:srgbClr val="2C3E50"/>
                </a:solidFill>
                <a:latin typeface="Calibri"/>
              </a:rPr>
              <a:t>  •  PoW / PoS blockchains: too heavy for UAV hardware</a:t>
            </a:r>
          </a:p>
          <a:p>
            <a:pPr algn="l">
              <a:lnSpc>
                <a:spcPts val="2000"/>
              </a:lnSpc>
            </a:pPr>
            <a:r>
              <a:rPr sz="1500" b="0">
                <a:solidFill>
                  <a:srgbClr val="2C3E50"/>
                </a:solidFill>
                <a:latin typeface="Calibri"/>
              </a:rPr>
              <a:t>  •  Symmetric keys: scale poorly in multi-UAV fleets</a:t>
            </a:r>
          </a:p>
        </p:txBody>
      </p:sp>
      <p:pic>
        <p:nvPicPr>
          <p:cNvPr id="11" name="Picture 10" descr="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325880"/>
            <a:ext cx="5394960" cy="448697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92240" y="60350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D6D7E"/>
                </a:solidFill>
                <a:latin typeface="Calibri"/>
              </a:rPr>
              <a:t>Fig. 1 – UAV Data Integrity Challenges &amp; PoH Motivation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34440"/>
            <a:ext cx="12188952" cy="53035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F4A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Research Objectives &amp; Contributions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EE"/>
                </a:solidFill>
                <a:latin typeface="Calibri"/>
              </a:rPr>
              <a:t>UAV Authentication using PoH Blockchain | MUNTASIR AL MAMUN | NJUPT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5394960" cy="41148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32588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Objectives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828800"/>
            <a:ext cx="411480" cy="502920"/>
          </a:xfrm>
          <a:prstGeom prst="rect">
            <a:avLst/>
          </a:prstGeom>
          <a:solidFill>
            <a:srgbClr val="F4A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90195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2B55"/>
                </a:solidFill>
                <a:latin typeface="Calibri"/>
              </a:rPr>
              <a:t>1.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1828800"/>
            <a:ext cx="48920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19202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  <a:latin typeface="Calibri"/>
              </a:rPr>
              <a:t>Develop a PoH-based sequential hashing engine for UAV telemetry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487168"/>
            <a:ext cx="411480" cy="502920"/>
          </a:xfrm>
          <a:prstGeom prst="rect">
            <a:avLst/>
          </a:prstGeom>
          <a:solidFill>
            <a:srgbClr val="F4A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56032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2B55"/>
                </a:solidFill>
                <a:latin typeface="Calibri"/>
              </a:rPr>
              <a:t>2.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2487168"/>
            <a:ext cx="48920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57860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  <a:latin typeface="Calibri"/>
              </a:rPr>
              <a:t>Integrate lightweight ECC mutual authentication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145536"/>
            <a:ext cx="411480" cy="502920"/>
          </a:xfrm>
          <a:prstGeom prst="rect">
            <a:avLst/>
          </a:prstGeom>
          <a:solidFill>
            <a:srgbClr val="F4A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21868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2B55"/>
                </a:solidFill>
                <a:latin typeface="Calibri"/>
              </a:rPr>
              <a:t>3.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3145536"/>
            <a:ext cx="48920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236976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  <a:latin typeface="Calibri"/>
              </a:rPr>
              <a:t>Implement in AirSim + PX4 SITL simulation environment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803904"/>
            <a:ext cx="411480" cy="502920"/>
          </a:xfrm>
          <a:prstGeom prst="rect">
            <a:avLst/>
          </a:prstGeom>
          <a:solidFill>
            <a:srgbClr val="F4A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877056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2B55"/>
                </a:solidFill>
                <a:latin typeface="Calibri"/>
              </a:rPr>
              <a:t>4.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3803904"/>
            <a:ext cx="48920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895344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  <a:latin typeface="Calibri"/>
              </a:rPr>
              <a:t>Design real-time web verification dashboard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462272"/>
            <a:ext cx="411480" cy="502920"/>
          </a:xfrm>
          <a:prstGeom prst="rect">
            <a:avLst/>
          </a:prstGeom>
          <a:solidFill>
            <a:srgbClr val="F4A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4535424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2B55"/>
                </a:solidFill>
                <a:latin typeface="Calibri"/>
              </a:rPr>
              <a:t>5.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4462272"/>
            <a:ext cx="48920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55371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  <a:latin typeface="Calibri"/>
              </a:rPr>
              <a:t>Evaluate performance &amp; security against common attack vectors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1325880"/>
            <a:ext cx="5486400" cy="4114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13258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Key Contributions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1847088"/>
            <a:ext cx="54864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1847088"/>
            <a:ext cx="73152" cy="82296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3952" y="1938528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  <a:latin typeface="Calibri"/>
              </a:rPr>
              <a:t>✔  First PoH-based UAV verification framework bridging blockchain principles with real-time flight data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2798064"/>
            <a:ext cx="54864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09360" y="2798064"/>
            <a:ext cx="73152" cy="82296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73952" y="2889504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  <a:latin typeface="Calibri"/>
              </a:rPr>
              <a:t>✔  Full end-to-end prototype: authentication + sequential logging + verification dashboard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3749040"/>
            <a:ext cx="54864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09360" y="3749040"/>
            <a:ext cx="73152" cy="82296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73952" y="384048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  <a:latin typeface="Calibri"/>
              </a:rPr>
              <a:t>✔  Empirical performance &amp; security evaluation under multi-UAV AirSim/PX4 conditions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4700016"/>
            <a:ext cx="54864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09360" y="4700016"/>
            <a:ext cx="73152" cy="82296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73952" y="4791456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  <a:latin typeface="Calibri"/>
              </a:rPr>
              <a:t>✔  Open-source modular architecture as a foundation for distributed UAV blockchain research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34440"/>
            <a:ext cx="12188952" cy="53035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F4A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Related Work &amp; Research Gap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EE"/>
                </a:solidFill>
                <a:latin typeface="Calibri"/>
              </a:rPr>
              <a:t>UAV Authentication using PoH Blockchain | MUNTASIR AL MAMUN | NJUPT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3200400" cy="100584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002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UAV Authentication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39" y="1371600"/>
            <a:ext cx="80467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200" y="1572768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ECC-based mutual auth, 5G-AKA, RF fingerprinting — lack tamper-evident logging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560320"/>
            <a:ext cx="3200400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7889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Blockchain for UAVs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49039" y="2560320"/>
            <a:ext cx="80467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86200" y="2761488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PoW/PoS/DPoS: too heavy. Permissioned chains lack inherent temporal ordering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749040"/>
            <a:ext cx="3200400" cy="100584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9776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PoH &amp; VDF Research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49039" y="3749040"/>
            <a:ext cx="80467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86200" y="3950208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Strong sequential-time proofs but no integrated lightweight UAV solution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937760"/>
            <a:ext cx="3200400" cy="1005840"/>
          </a:xfrm>
          <a:prstGeom prst="rect">
            <a:avLst/>
          </a:prstGeom>
          <a:solidFill>
            <a:srgbClr val="F4A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1663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Hybrid Logging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49039" y="4937760"/>
            <a:ext cx="80467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86200" y="5138928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High-res local logs + periodic anchors — but no unified auth-integrity linkage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989320"/>
            <a:ext cx="11430000" cy="566928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5989320"/>
            <a:ext cx="109728" cy="566928"/>
          </a:xfrm>
          <a:prstGeom prst="rect">
            <a:avLst/>
          </a:prstGeom>
          <a:solidFill>
            <a:srgbClr val="F4A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01675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B3F00"/>
                </a:solidFill>
                <a:latin typeface="Calibri"/>
              </a:rPr>
              <a:t>Research Gap:  No existing system unifies PoH temporal ordering with lightweight ECC authentication for real-time, resource-constrained UAV environments.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34440"/>
            <a:ext cx="12188952" cy="53035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F4A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0F0"/>
                </a:solidFill>
                <a:latin typeface="Calibri"/>
              </a:rPr>
              <a:t>Modular service-oriented framework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379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EE"/>
                </a:solidFill>
                <a:latin typeface="Calibri"/>
              </a:rPr>
              <a:t>UAV Authentication using PoH Blockchain | MUNTASIR AL MAMUN | NJUPT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 / 16</a:t>
            </a:r>
          </a:p>
        </p:txBody>
      </p:sp>
      <p:pic>
        <p:nvPicPr>
          <p:cNvPr id="10" name="Picture 9" descr="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25880"/>
            <a:ext cx="6858000" cy="570378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0040" y="60350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D6D7E"/>
                </a:solidFill>
                <a:latin typeface="Calibri"/>
              </a:rPr>
              <a:t>Fig. 3.1 – Overall System Architecture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1371600"/>
            <a:ext cx="45720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0" y="1371600"/>
            <a:ext cx="109728" cy="100584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79" y="144475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5FA8"/>
                </a:solidFill>
                <a:latin typeface="Calibri"/>
              </a:rPr>
              <a:t>UAV Client Nodes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178308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AirSim-simulated drones; autonomous flight + telemetry broadcasting via MAVLink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2560320"/>
            <a:ext cx="45720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0" y="2560320"/>
            <a:ext cx="109728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79" y="263347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B55"/>
                </a:solidFill>
                <a:latin typeface="Calibri"/>
              </a:rPr>
              <a:t>Ground Control Station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297180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Authentication hub + PoH ledger node; Flask REST API; ECC key registry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3749040"/>
            <a:ext cx="45720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0" y="3749040"/>
            <a:ext cx="109728" cy="100584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79" y="382219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0F0"/>
                </a:solidFill>
                <a:latin typeface="Calibri"/>
              </a:rPr>
              <a:t>PoH Blockchain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416052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Python SHA-256 sequential hashing; tamper-evident event timeline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0" y="4937760"/>
            <a:ext cx="45720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0" y="4937760"/>
            <a:ext cx="109728" cy="1005840"/>
          </a:xfrm>
          <a:prstGeom prst="rect">
            <a:avLst/>
          </a:prstGeom>
          <a:solidFill>
            <a:srgbClr val="F4A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79" y="501091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4A41B"/>
                </a:solidFill>
                <a:latin typeface="Calibri"/>
              </a:rPr>
              <a:t>Web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534924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Real-time telemetry viz; block verification; forensic log export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34440"/>
            <a:ext cx="12188952" cy="53035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F4A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Proof-of-History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0F0"/>
                </a:solidFill>
                <a:latin typeface="Calibri"/>
              </a:rPr>
              <a:t>Cryptographic backbone — tamper-evident sequential timeline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379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EE"/>
                </a:solidFill>
                <a:latin typeface="Calibri"/>
              </a:rPr>
              <a:t>UAV Authentication using PoH Blockchain | MUNTASIR AL MAMUN | NJUPT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7 / 16</a:t>
            </a:r>
          </a:p>
        </p:txBody>
      </p:sp>
      <p:pic>
        <p:nvPicPr>
          <p:cNvPr id="10" name="Picture 9" descr="Fi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25880"/>
            <a:ext cx="5669280" cy="310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0" y="58521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D6D7E"/>
                </a:solidFill>
                <a:latin typeface="Calibri"/>
              </a:rPr>
              <a:t>Fig. 3.2 – PoH Hash Sequence &amp; Verification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37160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</a:pPr>
            <a:r>
              <a:rPr sz="1700" b="1">
                <a:solidFill>
                  <a:srgbClr val="2C3E50"/>
                </a:solidFill>
                <a:latin typeface="Calibri"/>
              </a:rPr>
              <a:t>Core Formula:</a:t>
            </a:r>
          </a:p>
          <a:p>
            <a:pPr algn="l">
              <a:lnSpc>
                <a:spcPts val="2100"/>
              </a:lnSpc>
            </a:pPr>
            <a:r>
              <a:rPr sz="1500" b="1">
                <a:solidFill>
                  <a:srgbClr val="2C3E50"/>
                </a:solidFill>
                <a:latin typeface="Calibri"/>
              </a:rPr>
              <a:t>  Hᵢ = SHA256( Hᵢ₋₁ ∥ Eventᵢ ∥ Timestampᵢ )</a:t>
            </a:r>
          </a:p>
          <a:p>
            <a:pPr algn="l">
              <a:lnSpc>
                <a:spcPts val="2100"/>
              </a:lnSpc>
            </a:pPr>
            <a:r>
              <a:rPr sz="800" b="0">
                <a:solidFill>
                  <a:srgbClr val="2C3E50"/>
                </a:solidFill>
                <a:latin typeface="Calibri"/>
              </a:rPr>
              <a:t/>
            </a:r>
          </a:p>
          <a:p>
            <a:pPr algn="l">
              <a:lnSpc>
                <a:spcPts val="2100"/>
              </a:lnSpc>
            </a:pPr>
            <a:r>
              <a:rPr sz="1700" b="1">
                <a:solidFill>
                  <a:srgbClr val="2C3E50"/>
                </a:solidFill>
                <a:latin typeface="Calibri"/>
              </a:rPr>
              <a:t>Key Properties:</a:t>
            </a:r>
          </a:p>
          <a:p>
            <a:pPr algn="l">
              <a:lnSpc>
                <a:spcPts val="2100"/>
              </a:lnSpc>
            </a:pPr>
            <a:r>
              <a:rPr sz="1500" b="0">
                <a:solidFill>
                  <a:srgbClr val="2C3E50"/>
                </a:solidFill>
                <a:latin typeface="Calibri"/>
              </a:rPr>
              <a:t>  •  Inherently sequential — cannot be parallelised</a:t>
            </a:r>
          </a:p>
          <a:p>
            <a:pPr algn="l">
              <a:lnSpc>
                <a:spcPts val="2100"/>
              </a:lnSpc>
            </a:pPr>
            <a:r>
              <a:rPr sz="1500" b="0">
                <a:solidFill>
                  <a:srgbClr val="2C3E50"/>
                </a:solidFill>
                <a:latin typeface="Calibri"/>
              </a:rPr>
              <a:t>  •  Any block alteration invalidates all later hashes</a:t>
            </a:r>
          </a:p>
          <a:p>
            <a:pPr algn="l">
              <a:lnSpc>
                <a:spcPts val="2100"/>
              </a:lnSpc>
            </a:pPr>
            <a:r>
              <a:rPr sz="1500" b="0">
                <a:solidFill>
                  <a:srgbClr val="2C3E50"/>
                </a:solidFill>
                <a:latin typeface="Calibri"/>
              </a:rPr>
              <a:t>  •  Verification is embarrassingly parallel (fast audit)</a:t>
            </a:r>
          </a:p>
          <a:p>
            <a:pPr algn="l">
              <a:lnSpc>
                <a:spcPts val="2100"/>
              </a:lnSpc>
            </a:pPr>
            <a:r>
              <a:rPr sz="1500" b="0">
                <a:solidFill>
                  <a:srgbClr val="2C3E50"/>
                </a:solidFill>
                <a:latin typeface="Calibri"/>
              </a:rPr>
              <a:t>  •  No distributed consensus needed</a:t>
            </a:r>
          </a:p>
          <a:p>
            <a:pPr algn="l">
              <a:lnSpc>
                <a:spcPts val="2100"/>
              </a:lnSpc>
            </a:pPr>
            <a:r>
              <a:rPr sz="800" b="0">
                <a:solidFill>
                  <a:srgbClr val="2C3E50"/>
                </a:solidFill>
                <a:latin typeface="Calibri"/>
              </a:rPr>
              <a:t/>
            </a:r>
          </a:p>
          <a:p>
            <a:pPr algn="l">
              <a:lnSpc>
                <a:spcPts val="2100"/>
              </a:lnSpc>
            </a:pPr>
            <a:r>
              <a:rPr sz="1700" b="1">
                <a:solidFill>
                  <a:srgbClr val="2C3E50"/>
                </a:solidFill>
                <a:latin typeface="Calibri"/>
              </a:rPr>
              <a:t>Performance:</a:t>
            </a:r>
          </a:p>
          <a:p>
            <a:pPr algn="l">
              <a:lnSpc>
                <a:spcPts val="2100"/>
              </a:lnSpc>
            </a:pPr>
            <a:r>
              <a:rPr sz="1500" b="0">
                <a:solidFill>
                  <a:srgbClr val="2C3E50"/>
                </a:solidFill>
                <a:latin typeface="Calibri"/>
              </a:rPr>
              <a:t>  •  &gt; 120,000 hashes/sec on i5-11400H</a:t>
            </a:r>
          </a:p>
          <a:p>
            <a:pPr algn="l">
              <a:lnSpc>
                <a:spcPts val="2100"/>
              </a:lnSpc>
            </a:pPr>
            <a:r>
              <a:rPr sz="1500" b="0">
                <a:solidFill>
                  <a:srgbClr val="2C3E50"/>
                </a:solidFill>
                <a:latin typeface="Calibri"/>
              </a:rPr>
              <a:t>  •  Block creation &lt; 1 ms per event</a:t>
            </a:r>
          </a:p>
          <a:p>
            <a:pPr algn="l">
              <a:lnSpc>
                <a:spcPts val="2100"/>
              </a:lnSpc>
            </a:pPr>
            <a:r>
              <a:rPr sz="1500" b="0">
                <a:solidFill>
                  <a:srgbClr val="2C3E50"/>
                </a:solidFill>
                <a:latin typeface="Calibri"/>
              </a:rPr>
              <a:t>  •  Full-chain verification: 180–260 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34440"/>
            <a:ext cx="12188952" cy="53035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F4A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Authentication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0F0"/>
                </a:solidFill>
                <a:latin typeface="Calibri"/>
              </a:rPr>
              <a:t>ECC-based lightweight mutual authentication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379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EE"/>
                </a:solidFill>
                <a:latin typeface="Calibri"/>
              </a:rPr>
              <a:t>UAV Authentication using PoH Blockchain | MUNTASIR AL MAMUN | NJUPT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8 / 16</a:t>
            </a:r>
          </a:p>
        </p:txBody>
      </p:sp>
      <p:pic>
        <p:nvPicPr>
          <p:cNvPr id="10" name="Picture 9" descr="Fi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25880"/>
            <a:ext cx="5943600" cy="49133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74320" y="59893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D6D7E"/>
                </a:solidFill>
                <a:latin typeface="Calibri"/>
              </a:rPr>
              <a:t>Fig. 3.3 – UAV–GCS Three-Phase Authentication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37160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</a:pPr>
            <a:r>
              <a:rPr sz="1700" b="1">
                <a:solidFill>
                  <a:srgbClr val="2C3E50"/>
                </a:solidFill>
                <a:latin typeface="Calibri"/>
              </a:rPr>
              <a:t>Why ECC?</a:t>
            </a:r>
          </a:p>
          <a:p>
            <a:pPr algn="l">
              <a:lnSpc>
                <a:spcPts val="1900"/>
              </a:lnSpc>
            </a:pPr>
            <a:r>
              <a:rPr sz="1400" b="0">
                <a:solidFill>
                  <a:srgbClr val="2C3E50"/>
                </a:solidFill>
                <a:latin typeface="Calibri"/>
              </a:rPr>
              <a:t>  Equivalent security to RSA with smaller key sizes →</a:t>
            </a:r>
          </a:p>
          <a:p>
            <a:pPr algn="l">
              <a:lnSpc>
                <a:spcPts val="1900"/>
              </a:lnSpc>
            </a:pPr>
            <a:r>
              <a:rPr sz="1400" b="0">
                <a:solidFill>
                  <a:srgbClr val="2C3E50"/>
                </a:solidFill>
                <a:latin typeface="Calibri"/>
              </a:rPr>
              <a:t>  ideal for resource-constrained UAV hardware</a:t>
            </a:r>
          </a:p>
          <a:p>
            <a:pPr algn="l">
              <a:lnSpc>
                <a:spcPts val="1900"/>
              </a:lnSpc>
            </a:pPr>
            <a:r>
              <a:rPr sz="800" b="0">
                <a:solidFill>
                  <a:srgbClr val="2C3E50"/>
                </a:solidFill>
                <a:latin typeface="Calibri"/>
              </a:rPr>
              <a:t/>
            </a:r>
          </a:p>
          <a:p>
            <a:pPr algn="l">
              <a:lnSpc>
                <a:spcPts val="1900"/>
              </a:lnSpc>
            </a:pPr>
            <a:r>
              <a:rPr sz="1700" b="1">
                <a:solidFill>
                  <a:srgbClr val="2C3E50"/>
                </a:solidFill>
                <a:latin typeface="Calibri"/>
              </a:rPr>
              <a:t>3-Phase Handshake:</a:t>
            </a:r>
          </a:p>
          <a:p>
            <a:pPr algn="l">
              <a:lnSpc>
                <a:spcPts val="1900"/>
              </a:lnSpc>
            </a:pPr>
            <a:r>
              <a:rPr sz="1500" b="1">
                <a:solidFill>
                  <a:srgbClr val="2C3E50"/>
                </a:solidFill>
                <a:latin typeface="Calibri"/>
              </a:rPr>
              <a:t>  Phase 1 – Initialization:</a:t>
            </a:r>
          </a:p>
          <a:p>
            <a:pPr algn="l">
              <a:lnSpc>
                <a:spcPts val="1900"/>
              </a:lnSpc>
            </a:pPr>
            <a:r>
              <a:rPr sz="1400" b="0">
                <a:solidFill>
                  <a:srgbClr val="2C3E50"/>
                </a:solidFill>
                <a:latin typeface="Calibri"/>
              </a:rPr>
              <a:t>    UAV sends encrypted temp ID + signed nonce</a:t>
            </a:r>
          </a:p>
          <a:p>
            <a:pPr algn="l">
              <a:lnSpc>
                <a:spcPts val="1900"/>
              </a:lnSpc>
            </a:pPr>
            <a:r>
              <a:rPr sz="1500" b="1">
                <a:solidFill>
                  <a:srgbClr val="2C3E50"/>
                </a:solidFill>
                <a:latin typeface="Calibri"/>
              </a:rPr>
              <a:t>  Phase 2 – Challenge:</a:t>
            </a:r>
          </a:p>
          <a:p>
            <a:pPr algn="l">
              <a:lnSpc>
                <a:spcPts val="1900"/>
              </a:lnSpc>
            </a:pPr>
            <a:r>
              <a:rPr sz="1400" b="0">
                <a:solidFill>
                  <a:srgbClr val="2C3E50"/>
                </a:solidFill>
                <a:latin typeface="Calibri"/>
              </a:rPr>
              <a:t>    GCS verifies signature, issues random challenge token</a:t>
            </a:r>
          </a:p>
          <a:p>
            <a:pPr algn="l">
              <a:lnSpc>
                <a:spcPts val="1900"/>
              </a:lnSpc>
            </a:pPr>
            <a:r>
              <a:rPr sz="1500" b="1">
                <a:solidFill>
                  <a:srgbClr val="2C3E50"/>
                </a:solidFill>
                <a:latin typeface="Calibri"/>
              </a:rPr>
              <a:t>  Phase 3 – Verification:</a:t>
            </a:r>
          </a:p>
          <a:p>
            <a:pPr algn="l">
              <a:lnSpc>
                <a:spcPts val="1900"/>
              </a:lnSpc>
            </a:pPr>
            <a:r>
              <a:rPr sz="1400" b="0">
                <a:solidFill>
                  <a:srgbClr val="2C3E50"/>
                </a:solidFill>
                <a:latin typeface="Calibri"/>
              </a:rPr>
              <a:t>    UAV signs challenge; GCS verifies → session key K_Session</a:t>
            </a:r>
          </a:p>
          <a:p>
            <a:pPr algn="l">
              <a:lnSpc>
                <a:spcPts val="1900"/>
              </a:lnSpc>
            </a:pPr>
            <a:r>
              <a:rPr sz="800" b="0">
                <a:solidFill>
                  <a:srgbClr val="2C3E50"/>
                </a:solidFill>
                <a:latin typeface="Calibri"/>
              </a:rPr>
              <a:t/>
            </a:r>
          </a:p>
          <a:p>
            <a:pPr algn="l">
              <a:lnSpc>
                <a:spcPts val="1900"/>
              </a:lnSpc>
            </a:pPr>
            <a:r>
              <a:rPr sz="1700" b="1">
                <a:solidFill>
                  <a:srgbClr val="2C3E50"/>
                </a:solidFill>
                <a:latin typeface="Calibri"/>
              </a:rPr>
              <a:t>Session Security:</a:t>
            </a:r>
          </a:p>
          <a:p>
            <a:pPr algn="l">
              <a:lnSpc>
                <a:spcPts val="1900"/>
              </a:lnSpc>
            </a:pPr>
            <a:r>
              <a:rPr sz="1400" b="0">
                <a:solidFill>
                  <a:srgbClr val="2C3E50"/>
                </a:solidFill>
                <a:latin typeface="Calibri"/>
              </a:rPr>
              <a:t>  •  K_Session derived via one-way KDF</a:t>
            </a:r>
          </a:p>
          <a:p>
            <a:pPr algn="l">
              <a:lnSpc>
                <a:spcPts val="1900"/>
              </a:lnSpc>
            </a:pPr>
            <a:r>
              <a:rPr sz="1400" b="0">
                <a:solidFill>
                  <a:srgbClr val="2C3E50"/>
                </a:solidFill>
                <a:latin typeface="Calibri"/>
              </a:rPr>
              <a:t>  •  Each packet carries MAC(message, K_Session)</a:t>
            </a:r>
          </a:p>
          <a:p>
            <a:pPr algn="l">
              <a:lnSpc>
                <a:spcPts val="1900"/>
              </a:lnSpc>
            </a:pPr>
            <a:r>
              <a:rPr sz="1400" b="0">
                <a:solidFill>
                  <a:srgbClr val="2C3E50"/>
                </a:solidFill>
                <a:latin typeface="Calibri"/>
              </a:rPr>
              <a:t>  •  Session initiation event embedded in PoH chain</a:t>
            </a:r>
          </a:p>
          <a:p>
            <a:pPr algn="l">
              <a:lnSpc>
                <a:spcPts val="1900"/>
              </a:lnSpc>
            </a:pPr>
            <a:r>
              <a:rPr sz="1400" b="0">
                <a:solidFill>
                  <a:srgbClr val="2C3E50"/>
                </a:solidFill>
                <a:latin typeface="Calibri"/>
              </a:rPr>
              <a:t>  •  Prevents spoofing, replay &amp; command injection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34440"/>
            <a:ext cx="12188952" cy="53035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F4A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Data Model &amp; Block Format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0F0"/>
                </a:solidFill>
                <a:latin typeface="Calibri"/>
              </a:rPr>
              <a:t>Three-layer verifiable ledger structure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379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EE"/>
                </a:solidFill>
                <a:latin typeface="Calibri"/>
              </a:rPr>
              <a:t>UAV Authentication using PoH Blockchain | MUNTASIR AL MAMUN | NJUPT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9 / 16</a:t>
            </a:r>
          </a:p>
        </p:txBody>
      </p:sp>
      <p:pic>
        <p:nvPicPr>
          <p:cNvPr id="10" name="Picture 9" descr="Fi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25880"/>
            <a:ext cx="5669280" cy="344526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0" y="58064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D6D7E"/>
                </a:solidFill>
                <a:latin typeface="Calibri"/>
              </a:rPr>
              <a:t>Fig. 3.4 – PoH Ledger Block Structure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63040"/>
            <a:ext cx="576072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463040"/>
            <a:ext cx="137160" cy="118872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53619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5FA8"/>
                </a:solidFill>
                <a:latin typeface="Calibri"/>
              </a:rPr>
              <a:t>Layer 1 – Transaction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192024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UAV_ID, Timestamp, GPS, Altitude, Velocity, System Status,
Challenge tokens &amp; Session Keys (KTx)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834640"/>
            <a:ext cx="576072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834640"/>
            <a:ext cx="137160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90779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2B55"/>
                </a:solidFill>
                <a:latin typeface="Calibri"/>
              </a:rPr>
              <a:t>Layer 2 – PoH Metadata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29184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Block Index (i), Previous Hash (Hᵢ₋₁), Current Hash (Hᵢ),
Timestamp (Tᵢ), GCS Node Signature (Sig_Node)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206240"/>
            <a:ext cx="576072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206240"/>
            <a:ext cx="137160" cy="118872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27939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0F0"/>
                </a:solidFill>
                <a:latin typeface="Calibri"/>
              </a:rPr>
              <a:t>Layer 3 – Verification Record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66344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Links session keys to PoH index → retrospective session
verification without re-running authentication protocol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34440"/>
            <a:ext cx="12188952" cy="53035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F4A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Implementation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0F0"/>
                </a:solidFill>
                <a:latin typeface="Calibri"/>
              </a:rPr>
              <a:t>Technology stack &amp; simulation environment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379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EE"/>
                </a:solidFill>
                <a:latin typeface="Calibri"/>
              </a:rPr>
              <a:t>UAV Authentication using PoH Blockchain | MUNTASIR AL MAMUN | NJUPT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10 / 16</a:t>
            </a:r>
          </a:p>
        </p:txBody>
      </p:sp>
      <p:pic>
        <p:nvPicPr>
          <p:cNvPr id="10" name="Picture 9" descr="Fig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25880"/>
            <a:ext cx="5303520" cy="5303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74320" y="5852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D6D7E"/>
                </a:solidFill>
                <a:latin typeface="Calibri"/>
              </a:rPr>
              <a:t>Fig. 4.2 – Real-time Web Verification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1371600"/>
            <a:ext cx="6126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600" b="1">
                <a:solidFill>
                  <a:srgbClr val="2C3E50"/>
                </a:solidFill>
                <a:latin typeface="Calibri"/>
              </a:rPr>
              <a:t>Hardware Platform:</a:t>
            </a:r>
          </a:p>
          <a:p>
            <a:pPr algn="l">
              <a:lnSpc>
                <a:spcPts val="1800"/>
              </a:lnSpc>
            </a:pPr>
            <a:r>
              <a:rPr sz="1300" b="0">
                <a:solidFill>
                  <a:srgbClr val="2C3E50"/>
                </a:solidFill>
                <a:latin typeface="Calibri"/>
              </a:rPr>
              <a:t>  Intel i5-11400H @ 2.7 GHz | 16 GB DDR4 | NVIDIA GTX 1660 Ti | Windows 11 / WSL Ubuntu 22.04</a:t>
            </a:r>
          </a:p>
          <a:p>
            <a:pPr algn="l">
              <a:lnSpc>
                <a:spcPts val="1800"/>
              </a:lnSpc>
            </a:pPr>
            <a:r>
              <a:rPr sz="700" b="0">
                <a:solidFill>
                  <a:srgbClr val="2C3E50"/>
                </a:solidFill>
                <a:latin typeface="Calibri"/>
              </a:rPr>
              <a:t/>
            </a:r>
          </a:p>
          <a:p>
            <a:pPr algn="l">
              <a:lnSpc>
                <a:spcPts val="1800"/>
              </a:lnSpc>
            </a:pPr>
            <a:r>
              <a:rPr sz="1600" b="1">
                <a:solidFill>
                  <a:srgbClr val="2C3E50"/>
                </a:solidFill>
                <a:latin typeface="Calibri"/>
              </a:rPr>
              <a:t>Software Stack:</a:t>
            </a:r>
          </a:p>
          <a:p>
            <a:pPr algn="l">
              <a:lnSpc>
                <a:spcPts val="1800"/>
              </a:lnSpc>
            </a:pPr>
            <a:r>
              <a:rPr sz="1300" b="0">
                <a:solidFill>
                  <a:srgbClr val="2C3E50"/>
                </a:solidFill>
                <a:latin typeface="Calibri"/>
              </a:rPr>
              <a:t>  Python 3.11 + Flask 3.0 · PyCryptodome (ECC/SHA-256)</a:t>
            </a:r>
          </a:p>
          <a:p>
            <a:pPr algn="l">
              <a:lnSpc>
                <a:spcPts val="1800"/>
              </a:lnSpc>
            </a:pPr>
            <a:r>
              <a:rPr sz="1300" b="0">
                <a:solidFill>
                  <a:srgbClr val="2C3E50"/>
                </a:solidFill>
                <a:latin typeface="Calibri"/>
              </a:rPr>
              <a:t>  SQLite 3.41 + SQLAlchemy ORM · Jinja2 + AJAX dashboard</a:t>
            </a:r>
          </a:p>
          <a:p>
            <a:pPr algn="l">
              <a:lnSpc>
                <a:spcPts val="1800"/>
              </a:lnSpc>
            </a:pPr>
            <a:r>
              <a:rPr sz="1300" b="0">
                <a:solidFill>
                  <a:srgbClr val="2C3E50"/>
                </a:solidFill>
                <a:latin typeface="Calibri"/>
              </a:rPr>
              <a:t>  Microsoft AirSim + PX4 SITL · MAVLink protocol</a:t>
            </a:r>
          </a:p>
          <a:p>
            <a:pPr algn="l">
              <a:lnSpc>
                <a:spcPts val="1800"/>
              </a:lnSpc>
            </a:pPr>
            <a:r>
              <a:rPr sz="700" b="0">
                <a:solidFill>
                  <a:srgbClr val="2C3E50"/>
                </a:solidFill>
                <a:latin typeface="Calibri"/>
              </a:rPr>
              <a:t/>
            </a:r>
          </a:p>
          <a:p>
            <a:pPr algn="l">
              <a:lnSpc>
                <a:spcPts val="1800"/>
              </a:lnSpc>
            </a:pPr>
            <a:r>
              <a:rPr sz="1600" b="1">
                <a:solidFill>
                  <a:srgbClr val="2C3E50"/>
                </a:solidFill>
                <a:latin typeface="Calibri"/>
              </a:rPr>
              <a:t>API Endpoints:</a:t>
            </a:r>
          </a:p>
          <a:p>
            <a:pPr algn="l">
              <a:lnSpc>
                <a:spcPts val="1800"/>
              </a:lnSpc>
            </a:pPr>
            <a:r>
              <a:rPr sz="1300" b="0">
                <a:solidFill>
                  <a:srgbClr val="2C3E50"/>
                </a:solidFill>
                <a:latin typeface="Calibri"/>
              </a:rPr>
              <a:t>  /api/telemetry — receives signed UAV packets → PoH chain</a:t>
            </a:r>
          </a:p>
          <a:p>
            <a:pPr algn="l">
              <a:lnSpc>
                <a:spcPts val="1800"/>
              </a:lnSpc>
            </a:pPr>
            <a:r>
              <a:rPr sz="1300" b="0">
                <a:solidFill>
                  <a:srgbClr val="2C3E50"/>
                </a:solidFill>
                <a:latin typeface="Calibri"/>
              </a:rPr>
              <a:t>  /api/verify    — recomputes hashes, returns integrity token</a:t>
            </a:r>
          </a:p>
          <a:p>
            <a:pPr algn="l">
              <a:lnSpc>
                <a:spcPts val="1800"/>
              </a:lnSpc>
            </a:pPr>
            <a:r>
              <a:rPr sz="1300" b="0">
                <a:solidFill>
                  <a:srgbClr val="2C3E50"/>
                </a:solidFill>
                <a:latin typeface="Calibri"/>
              </a:rPr>
              <a:t>  /api/logs      — authenticated historical blockchain access</a:t>
            </a:r>
          </a:p>
          <a:p>
            <a:pPr algn="l">
              <a:lnSpc>
                <a:spcPts val="1800"/>
              </a:lnSpc>
            </a:pPr>
            <a:r>
              <a:rPr sz="700" b="0">
                <a:solidFill>
                  <a:srgbClr val="2C3E50"/>
                </a:solidFill>
                <a:latin typeface="Calibri"/>
              </a:rPr>
              <a:t/>
            </a:r>
          </a:p>
          <a:p>
            <a:pPr algn="l">
              <a:lnSpc>
                <a:spcPts val="1800"/>
              </a:lnSpc>
            </a:pPr>
            <a:r>
              <a:rPr sz="1600" b="1">
                <a:solidFill>
                  <a:srgbClr val="2C3E50"/>
                </a:solidFill>
                <a:latin typeface="Calibri"/>
              </a:rPr>
              <a:t>Dashboard Panels:</a:t>
            </a:r>
          </a:p>
          <a:p>
            <a:pPr algn="l">
              <a:lnSpc>
                <a:spcPts val="1800"/>
              </a:lnSpc>
            </a:pPr>
            <a:r>
              <a:rPr sz="1300" b="0">
                <a:solidFill>
                  <a:srgbClr val="2C3E50"/>
                </a:solidFill>
                <a:latin typeface="Calibri"/>
              </a:rPr>
              <a:t>  Telemetry Viz · Blockchain Ledger · Authentication Log · Export (JSON/CSV)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34440"/>
            <a:ext cx="12188952" cy="53035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F4A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Evaluation – Performance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0F0"/>
                </a:solidFill>
                <a:latin typeface="Calibri"/>
              </a:rPr>
              <a:t>AirSim + PX4 SITL multi-UAV simulation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379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EE"/>
                </a:solidFill>
                <a:latin typeface="Calibri"/>
              </a:rPr>
              <a:t>UAV Authentication using PoH Blockchain | MUNTASIR AL MAMUN | NJUPT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11 / 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371600"/>
            <a:ext cx="2377440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371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Approach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79192" y="1371600"/>
            <a:ext cx="1783080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79192" y="137160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Auth Latency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9704" y="1371600"/>
            <a:ext cx="1783080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9704" y="137160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Telemetry Log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0216" y="1371600"/>
            <a:ext cx="1783080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0216" y="137160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Ordering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10728" y="1371600"/>
            <a:ext cx="2103120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10728" y="1371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UAV Suitability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1764792"/>
            <a:ext cx="2377440" cy="658368"/>
          </a:xfrm>
          <a:prstGeom prst="rect">
            <a:avLst/>
          </a:prstGeom>
          <a:solidFill>
            <a:srgbClr val="D4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190195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5FA8"/>
                </a:solidFill>
                <a:latin typeface="Calibri"/>
              </a:rPr>
              <a:t>This Work (PoH)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79192" y="1764792"/>
            <a:ext cx="1783080" cy="658368"/>
          </a:xfrm>
          <a:prstGeom prst="rect">
            <a:avLst/>
          </a:prstGeom>
          <a:solidFill>
            <a:srgbClr val="D4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24912" y="1901952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3E50"/>
                </a:solidFill>
                <a:latin typeface="Calibri"/>
              </a:rPr>
              <a:t>~ms (12-18 ms)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9704" y="1764792"/>
            <a:ext cx="1783080" cy="658368"/>
          </a:xfrm>
          <a:prstGeom prst="rect">
            <a:avLst/>
          </a:prstGeom>
          <a:solidFill>
            <a:srgbClr val="D4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35424" y="1901952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3E50"/>
                </a:solidFill>
                <a:latin typeface="Calibri"/>
              </a:rPr>
              <a:t>&lt; 1 ms/block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0216" y="1764792"/>
            <a:ext cx="1783080" cy="658368"/>
          </a:xfrm>
          <a:prstGeom prst="rect">
            <a:avLst/>
          </a:prstGeom>
          <a:solidFill>
            <a:srgbClr val="D4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45936" y="1901952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3E50"/>
                </a:solidFill>
                <a:latin typeface="Calibri"/>
              </a:rPr>
              <a:t>Deterministic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10728" y="1764792"/>
            <a:ext cx="2103120" cy="658368"/>
          </a:xfrm>
          <a:prstGeom prst="rect">
            <a:avLst/>
          </a:prstGeom>
          <a:solidFill>
            <a:srgbClr val="D4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56448" y="190195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3E50"/>
                </a:solidFill>
                <a:latin typeface="Calibri"/>
              </a:rPr>
              <a:t>★★★★★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478024"/>
            <a:ext cx="23774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2615184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3E50"/>
                </a:solidFill>
                <a:latin typeface="Calibri"/>
              </a:rPr>
              <a:t>PKI-based Auth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79192" y="2478024"/>
            <a:ext cx="1783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24912" y="2615184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3E50"/>
                </a:solidFill>
                <a:latin typeface="Calibri"/>
              </a:rPr>
              <a:t>Low-Medium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89704" y="2478024"/>
            <a:ext cx="1783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35424" y="2615184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3E50"/>
                </a:solidFill>
                <a:latin typeface="Calibri"/>
              </a:rPr>
              <a:t>Not supported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0216" y="2478024"/>
            <a:ext cx="1783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45936" y="2615184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3E50"/>
                </a:solidFill>
                <a:latin typeface="Calibri"/>
              </a:rPr>
              <a:t>None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10728" y="2478024"/>
            <a:ext cx="21031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56448" y="2615184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3E50"/>
                </a:solidFill>
                <a:latin typeface="Calibri"/>
              </a:rPr>
              <a:t>★★★☆☆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3191256"/>
            <a:ext cx="2377440" cy="65836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3328416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3E50"/>
                </a:solidFill>
                <a:latin typeface="Calibri"/>
              </a:rPr>
              <a:t>PoW Blockchain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79192" y="3191256"/>
            <a:ext cx="1783080" cy="65836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24912" y="3328416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3E50"/>
                </a:solidFill>
                <a:latin typeface="Calibri"/>
              </a:rPr>
              <a:t>High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489704" y="3191256"/>
            <a:ext cx="1783080" cy="65836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35424" y="3328416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3E50"/>
                </a:solidFill>
                <a:latin typeface="Calibri"/>
              </a:rPr>
              <a:t>Sec–Min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0216" y="3191256"/>
            <a:ext cx="1783080" cy="65836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45936" y="3328416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3E50"/>
                </a:solidFill>
                <a:latin typeface="Calibri"/>
              </a:rPr>
              <a:t>Probabilistic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10728" y="3191256"/>
            <a:ext cx="2103120" cy="65836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56448" y="332841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3E50"/>
                </a:solidFill>
                <a:latin typeface="Calibri"/>
              </a:rPr>
              <a:t>★☆☆☆☆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3904488"/>
            <a:ext cx="23774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0040" y="404164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3E50"/>
                </a:solidFill>
                <a:latin typeface="Calibri"/>
              </a:rPr>
              <a:t>PoS Blockchain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79192" y="3904488"/>
            <a:ext cx="1783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24912" y="4041648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3E50"/>
                </a:solidFill>
                <a:latin typeface="Calibri"/>
              </a:rPr>
              <a:t>Med–High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489704" y="3904488"/>
            <a:ext cx="1783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35424" y="4041648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3E50"/>
                </a:solidFill>
                <a:latin typeface="Calibri"/>
              </a:rPr>
              <a:t>Seconds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00216" y="3904488"/>
            <a:ext cx="1783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45936" y="4041648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3E50"/>
                </a:solidFill>
                <a:latin typeface="Calibri"/>
              </a:rPr>
              <a:t>Probabilistic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110728" y="3904488"/>
            <a:ext cx="21031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56448" y="40416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3E50"/>
                </a:solidFill>
                <a:latin typeface="Calibri"/>
              </a:rPr>
              <a:t>★★☆☆☆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4617720"/>
            <a:ext cx="2377440" cy="65836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0040" y="47548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3E50"/>
                </a:solidFill>
                <a:latin typeface="Calibri"/>
              </a:rPr>
              <a:t>DAG Ledger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679192" y="4617720"/>
            <a:ext cx="1783080" cy="65836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724912" y="475488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3E50"/>
                </a:solidFill>
                <a:latin typeface="Calibri"/>
              </a:rPr>
              <a:t>Medium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489704" y="4617720"/>
            <a:ext cx="1783080" cy="65836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35424" y="475488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3E50"/>
                </a:solidFill>
                <a:latin typeface="Calibri"/>
              </a:rPr>
              <a:t>Sub-second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300216" y="4617720"/>
            <a:ext cx="1783080" cy="65836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45936" y="475488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3E50"/>
                </a:solidFill>
                <a:latin typeface="Calibri"/>
              </a:rPr>
              <a:t>Partial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110728" y="4617720"/>
            <a:ext cx="2103120" cy="65836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156448" y="47548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3E50"/>
                </a:solidFill>
                <a:latin typeface="Calibri"/>
              </a:rPr>
              <a:t>★★★☆☆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" y="5413248"/>
            <a:ext cx="11612880" cy="713232"/>
          </a:xfrm>
          <a:prstGeom prst="rect">
            <a:avLst/>
          </a:prstGeom>
          <a:solidFill>
            <a:srgbClr val="E2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74320" y="5413248"/>
            <a:ext cx="109728" cy="71323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02920" y="546811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  <a:latin typeface="Calibri"/>
              </a:rPr>
              <a:t>Key Metrics:   Auth cycle 12–18 ms  ·  Telemetry ingestion 6–10 ms  ·  Hash throughput 110–125 K/s  ·  Block latency &lt; 3 ms  ·  Full-chain verify 180–260 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34440"/>
            <a:ext cx="12188952" cy="53035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F4A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Evaluation – Security Tests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0F0"/>
                </a:solidFill>
                <a:latin typeface="Calibri"/>
              </a:rPr>
              <a:t>Four adversarial scenarios verified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379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EE"/>
                </a:solidFill>
                <a:latin typeface="Calibri"/>
              </a:rPr>
              <a:t>UAV Authentication using PoH Blockchain | MUNTASIR AL MAMUN | NJUPT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12 / 16</a:t>
            </a:r>
          </a:p>
        </p:txBody>
      </p:sp>
      <p:pic>
        <p:nvPicPr>
          <p:cNvPr id="10" name="Picture 9" descr="Fi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669280" cy="309233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0" y="530352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D6D7E"/>
                </a:solidFill>
                <a:latin typeface="Calibri"/>
              </a:rPr>
              <a:t>Fig. 5.1 – Data Tampering Attack &amp; PoH Detection Response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17320"/>
            <a:ext cx="5669280" cy="914400"/>
          </a:xfrm>
          <a:prstGeom prst="rect">
            <a:avLst/>
          </a:prstGeom>
          <a:solidFill>
            <a:srgbClr val="FF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417320"/>
            <a:ext cx="109728" cy="91440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149047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5FA8"/>
                </a:solidFill>
                <a:latin typeface="Calibri"/>
              </a:rPr>
              <a:t>✗  Impersonation Attack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184708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Spoofed SUPI / invalid SUCI → authentication rejected immediately; no PoH entry created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514600"/>
            <a:ext cx="5669280" cy="914400"/>
          </a:xfrm>
          <a:prstGeom prst="rect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514600"/>
            <a:ext cx="109728" cy="914400"/>
          </a:xfrm>
          <a:prstGeom prst="rect">
            <a:avLst/>
          </a:prstGeom>
          <a:solidFill>
            <a:srgbClr val="F4A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258775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4A41B"/>
                </a:solidFill>
                <a:latin typeface="Calibri"/>
              </a:rPr>
              <a:t>✗  Replay Attack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294436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Captured packets have stale timestamps misaligned with advancing PoH sequence → classified stale &amp; rejected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611880"/>
            <a:ext cx="5669280" cy="914400"/>
          </a:xfrm>
          <a:prstGeom prst="rect">
            <a:avLst/>
          </a:prstGeom>
          <a:solidFill>
            <a:srgbClr val="E5F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611880"/>
            <a:ext cx="109728" cy="91440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368503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8B4C"/>
                </a:solidFill>
                <a:latin typeface="Calibri"/>
              </a:rPr>
              <a:t>✗  Data Tampering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" y="404164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Modified block → hash mismatch detected; entire downstream chain flagged invalid (see dashboard alert)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709160"/>
            <a:ext cx="5669280" cy="914400"/>
          </a:xfrm>
          <a:prstGeom prst="rect">
            <a:avLst/>
          </a:prstGeom>
          <a:solidFill>
            <a:srgbClr val="E5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4709160"/>
            <a:ext cx="109728" cy="914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" y="478231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0F0"/>
                </a:solidFill>
                <a:latin typeface="Calibri"/>
              </a:rPr>
              <a:t>✗  Malicious Chain Fork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" y="513892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Attacker cannot regenerate valid sequential hashes at comparable speed → forked chain rejected by GCS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897880"/>
            <a:ext cx="5669280" cy="502920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592531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5C2E"/>
                </a:solidFill>
                <a:latin typeface="Calibri"/>
              </a:rPr>
              <a:t>✔  All four attack categories successfully mitigated by the PoH + ECC framework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34440"/>
            <a:ext cx="12188952" cy="53035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F4A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EE"/>
                </a:solidFill>
                <a:latin typeface="Calibri"/>
              </a:rPr>
              <a:t>UAV Authentication using PoH Blockchain | MUNTASIR AL MAMUN | NJUPT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13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25880"/>
            <a:ext cx="5486400" cy="384048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32588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Summary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783080"/>
            <a:ext cx="54864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783080"/>
            <a:ext cx="91440" cy="77724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874520"/>
            <a:ext cx="52120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✔  Novel PoH-based UAV authentication framework — verifiable tamper-evident event timeline without heavy consensus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679192"/>
            <a:ext cx="54864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679192"/>
            <a:ext cx="91440" cy="77724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770632"/>
            <a:ext cx="52120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✔  ECC mutual authentication binds verified UAV identities directly to the PoH ledger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575304"/>
            <a:ext cx="54864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3575304"/>
            <a:ext cx="91440" cy="77724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666744"/>
            <a:ext cx="52120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✔  Real-time web dashboard enables live monitoring and forensic audit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471416"/>
            <a:ext cx="54864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471416"/>
            <a:ext cx="91440" cy="77724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562856"/>
            <a:ext cx="52120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✔  Strong resilience against impersonation, replay, tampering &amp; chain-fork attacks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367528"/>
            <a:ext cx="54864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5367528"/>
            <a:ext cx="91440" cy="77724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458968"/>
            <a:ext cx="52120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✔  Practical performance: ms-level latency, 110–125K hashes/sec throughput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1325880"/>
            <a:ext cx="585216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1325880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Future Work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01368"/>
            <a:ext cx="585216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0" y="1801368"/>
            <a:ext cx="109728" cy="960120"/>
          </a:xfrm>
          <a:prstGeom prst="rect">
            <a:avLst/>
          </a:prstGeom>
          <a:solidFill>
            <a:srgbClr val="F4A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36208" y="186537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4A41B"/>
                </a:solidFill>
                <a:latin typeface="Calibri"/>
              </a:rPr>
              <a:t>Multi-node Distributed PoH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6208" y="22402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Replicate ledger across GCS nodes for fault-tolerance &amp; scalability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898648"/>
            <a:ext cx="585216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35040" y="2898648"/>
            <a:ext cx="109728" cy="96012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36208" y="296265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0F0"/>
                </a:solidFill>
                <a:latin typeface="Calibri"/>
              </a:rPr>
              <a:t>UAV Swarm &amp; Inter-UAV Auth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36208" y="33375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Handover procedures, cross-UAV verification in BVLOS missions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3995928"/>
            <a:ext cx="585216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3995928"/>
            <a:ext cx="109728" cy="96012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36208" y="405993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5FA8"/>
                </a:solidFill>
                <a:latin typeface="Calibri"/>
              </a:rPr>
              <a:t>Physical Hardware Deployment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36208" y="44348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Real-world energy, latency &amp; communication constraints on embedded controllers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5093208"/>
            <a:ext cx="585216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35040" y="5093208"/>
            <a:ext cx="109728" cy="960120"/>
          </a:xfrm>
          <a:prstGeom prst="rect">
            <a:avLst/>
          </a:prstGeom>
          <a:solidFill>
            <a:srgbClr val="6CB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36208" y="515721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CBB6C"/>
                </a:solidFill>
                <a:latin typeface="Calibri"/>
              </a:rPr>
              <a:t>Cloud Integration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36208" y="55321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Periodic checkpoint anchoring to cloud ledger for regulatory compliance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88952" cy="64008"/>
          </a:xfrm>
          <a:prstGeom prst="rect">
            <a:avLst/>
          </a:prstGeom>
          <a:solidFill>
            <a:srgbClr val="F4A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081528"/>
            <a:ext cx="12188952" cy="3657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raphical_abs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457200"/>
            <a:ext cx="2834640" cy="16110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10972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4A41B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CDDFF"/>
                </a:solidFill>
                <a:latin typeface="Calibri"/>
              </a:rPr>
              <a:t>Design and Implementation of UAV Authentication System
based on Proof-of-History Blockchain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700" b="1">
                <a:solidFill>
                  <a:srgbClr val="AACCEE"/>
                </a:solidFill>
                <a:latin typeface="Calibri"/>
              </a:rPr>
              <a:t>MUNTASIR AL MAMUN</a:t>
            </a:r>
          </a:p>
          <a:p>
            <a:pPr algn="l">
              <a:lnSpc>
                <a:spcPts val="2200"/>
              </a:lnSpc>
            </a:pPr>
            <a:r>
              <a:rPr sz="1400" b="0">
                <a:solidFill>
                  <a:srgbClr val="AACCEE"/>
                </a:solidFill>
                <a:latin typeface="Calibri"/>
              </a:rPr>
              <a:t>Student No.: F22040119  |  Computer Science &amp; Technology</a:t>
            </a:r>
          </a:p>
          <a:p>
            <a:pPr algn="l">
              <a:lnSpc>
                <a:spcPts val="2200"/>
              </a:lnSpc>
            </a:pPr>
            <a:r>
              <a:rPr sz="1400" b="0">
                <a:solidFill>
                  <a:srgbClr val="AACCEE"/>
                </a:solidFill>
                <a:latin typeface="Calibri"/>
              </a:rPr>
              <a:t>Nanjing University of Posts and Telecommunications  | 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5379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CEE"/>
                </a:solidFill>
                <a:latin typeface="Calibri"/>
              </a:rPr>
              <a:t>UAV Authentication using PoH Blockchain | MUNTASIR AL MAMUN | NJUPT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379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14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